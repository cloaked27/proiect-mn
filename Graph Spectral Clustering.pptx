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B5D16-BDF2-414C-93BD-646C48554C9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B36A3D1-212E-4DB5-9EA3-13F604957DA2}">
      <dgm:prSet/>
      <dgm:spPr/>
      <dgm:t>
        <a:bodyPr/>
        <a:lstStyle/>
        <a:p>
          <a:r>
            <a:rPr lang="ro-RO"/>
            <a:t>Identificarea automată a clusterelor dintr-un graf aleatoriu, folosindu-ne de rezultate din curs.</a:t>
          </a:r>
          <a:endParaRPr lang="en-US"/>
        </a:p>
      </dgm:t>
    </dgm:pt>
    <dgm:pt modelId="{DE88973D-C72B-4B90-96AE-4CA60B139EE7}" type="parTrans" cxnId="{F1CF7F5A-31A7-42E9-A40B-619C54B890A6}">
      <dgm:prSet/>
      <dgm:spPr/>
      <dgm:t>
        <a:bodyPr/>
        <a:lstStyle/>
        <a:p>
          <a:endParaRPr lang="en-US"/>
        </a:p>
      </dgm:t>
    </dgm:pt>
    <dgm:pt modelId="{CD38D00B-BE38-43D8-937B-6EB6F5E358D7}" type="sibTrans" cxnId="{F1CF7F5A-31A7-42E9-A40B-619C54B890A6}">
      <dgm:prSet/>
      <dgm:spPr/>
      <dgm:t>
        <a:bodyPr/>
        <a:lstStyle/>
        <a:p>
          <a:endParaRPr lang="en-US"/>
        </a:p>
      </dgm:t>
    </dgm:pt>
    <dgm:pt modelId="{CA623E4D-D720-45D0-9D9A-A553B8E0C36D}">
      <dgm:prSet/>
      <dgm:spPr/>
      <dgm:t>
        <a:bodyPr/>
        <a:lstStyle/>
        <a:p>
          <a:r>
            <a:rPr lang="ro-RO"/>
            <a:t>Principalul nostru atuu l-a reprezentat spectrul matricei Laplacian care descrie graful, iar de acolo am putut să construim funcțiile care să ne ducă la clusterele finale.</a:t>
          </a:r>
          <a:endParaRPr lang="en-US"/>
        </a:p>
      </dgm:t>
    </dgm:pt>
    <dgm:pt modelId="{97089E1C-498F-4202-B9AB-51DA8D44DCD5}" type="parTrans" cxnId="{1A714030-E435-4F7D-BAE7-14338BEBA64A}">
      <dgm:prSet/>
      <dgm:spPr/>
      <dgm:t>
        <a:bodyPr/>
        <a:lstStyle/>
        <a:p>
          <a:endParaRPr lang="en-US"/>
        </a:p>
      </dgm:t>
    </dgm:pt>
    <dgm:pt modelId="{4763E9DF-B6D0-427E-B429-752A7EBA06DD}" type="sibTrans" cxnId="{1A714030-E435-4F7D-BAE7-14338BEBA64A}">
      <dgm:prSet/>
      <dgm:spPr/>
      <dgm:t>
        <a:bodyPr/>
        <a:lstStyle/>
        <a:p>
          <a:endParaRPr lang="en-US"/>
        </a:p>
      </dgm:t>
    </dgm:pt>
    <dgm:pt modelId="{449835BF-A4A1-4FFF-990E-56EE0A6DB71B}" type="pres">
      <dgm:prSet presAssocID="{ACAB5D16-BDF2-414C-93BD-646C48554C9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5CD4F5-AE82-4D82-9C1A-0E63D19BF728}" type="pres">
      <dgm:prSet presAssocID="{8B36A3D1-212E-4DB5-9EA3-13F604957DA2}" presName="hierRoot1" presStyleCnt="0"/>
      <dgm:spPr/>
    </dgm:pt>
    <dgm:pt modelId="{43F5F658-F673-4A9E-A186-90AFCE30B27D}" type="pres">
      <dgm:prSet presAssocID="{8B36A3D1-212E-4DB5-9EA3-13F604957DA2}" presName="composite" presStyleCnt="0"/>
      <dgm:spPr/>
    </dgm:pt>
    <dgm:pt modelId="{6ED3C7E7-03DF-4081-BAB8-A64034D4F0CD}" type="pres">
      <dgm:prSet presAssocID="{8B36A3D1-212E-4DB5-9EA3-13F604957DA2}" presName="background" presStyleLbl="node0" presStyleIdx="0" presStyleCnt="2"/>
      <dgm:spPr/>
    </dgm:pt>
    <dgm:pt modelId="{9F682B51-A0D0-41F1-9FD7-32D5D4BBC39C}" type="pres">
      <dgm:prSet presAssocID="{8B36A3D1-212E-4DB5-9EA3-13F604957DA2}" presName="text" presStyleLbl="fgAcc0" presStyleIdx="0" presStyleCnt="2">
        <dgm:presLayoutVars>
          <dgm:chPref val="3"/>
        </dgm:presLayoutVars>
      </dgm:prSet>
      <dgm:spPr/>
    </dgm:pt>
    <dgm:pt modelId="{04BFD047-6402-4F01-B14C-9E9700E07701}" type="pres">
      <dgm:prSet presAssocID="{8B36A3D1-212E-4DB5-9EA3-13F604957DA2}" presName="hierChild2" presStyleCnt="0"/>
      <dgm:spPr/>
    </dgm:pt>
    <dgm:pt modelId="{2A2712C4-CA2D-4550-8C4A-6E18ACAD7CDD}" type="pres">
      <dgm:prSet presAssocID="{CA623E4D-D720-45D0-9D9A-A553B8E0C36D}" presName="hierRoot1" presStyleCnt="0"/>
      <dgm:spPr/>
    </dgm:pt>
    <dgm:pt modelId="{7B46F3DA-66B5-4E4A-8CF4-7196F62DD41C}" type="pres">
      <dgm:prSet presAssocID="{CA623E4D-D720-45D0-9D9A-A553B8E0C36D}" presName="composite" presStyleCnt="0"/>
      <dgm:spPr/>
    </dgm:pt>
    <dgm:pt modelId="{02DF2719-C8F8-4E4A-8529-348DA84852D5}" type="pres">
      <dgm:prSet presAssocID="{CA623E4D-D720-45D0-9D9A-A553B8E0C36D}" presName="background" presStyleLbl="node0" presStyleIdx="1" presStyleCnt="2"/>
      <dgm:spPr/>
    </dgm:pt>
    <dgm:pt modelId="{2BBAD1F6-5C25-4F86-BD7A-A84859F12860}" type="pres">
      <dgm:prSet presAssocID="{CA623E4D-D720-45D0-9D9A-A553B8E0C36D}" presName="text" presStyleLbl="fgAcc0" presStyleIdx="1" presStyleCnt="2">
        <dgm:presLayoutVars>
          <dgm:chPref val="3"/>
        </dgm:presLayoutVars>
      </dgm:prSet>
      <dgm:spPr/>
    </dgm:pt>
    <dgm:pt modelId="{2806C904-F739-4272-AB84-268A94EFEBEC}" type="pres">
      <dgm:prSet presAssocID="{CA623E4D-D720-45D0-9D9A-A553B8E0C36D}" presName="hierChild2" presStyleCnt="0"/>
      <dgm:spPr/>
    </dgm:pt>
  </dgm:ptLst>
  <dgm:cxnLst>
    <dgm:cxn modelId="{1A714030-E435-4F7D-BAE7-14338BEBA64A}" srcId="{ACAB5D16-BDF2-414C-93BD-646C48554C98}" destId="{CA623E4D-D720-45D0-9D9A-A553B8E0C36D}" srcOrd="1" destOrd="0" parTransId="{97089E1C-498F-4202-B9AB-51DA8D44DCD5}" sibTransId="{4763E9DF-B6D0-427E-B429-752A7EBA06DD}"/>
    <dgm:cxn modelId="{80ABA263-0B1D-4E9C-8724-A643588557D0}" type="presOf" srcId="{CA623E4D-D720-45D0-9D9A-A553B8E0C36D}" destId="{2BBAD1F6-5C25-4F86-BD7A-A84859F12860}" srcOrd="0" destOrd="0" presId="urn:microsoft.com/office/officeart/2005/8/layout/hierarchy1"/>
    <dgm:cxn modelId="{72089D6D-AE10-42C4-AF6C-38B6CFAB70BC}" type="presOf" srcId="{ACAB5D16-BDF2-414C-93BD-646C48554C98}" destId="{449835BF-A4A1-4FFF-990E-56EE0A6DB71B}" srcOrd="0" destOrd="0" presId="urn:microsoft.com/office/officeart/2005/8/layout/hierarchy1"/>
    <dgm:cxn modelId="{F1CF7F5A-31A7-42E9-A40B-619C54B890A6}" srcId="{ACAB5D16-BDF2-414C-93BD-646C48554C98}" destId="{8B36A3D1-212E-4DB5-9EA3-13F604957DA2}" srcOrd="0" destOrd="0" parTransId="{DE88973D-C72B-4B90-96AE-4CA60B139EE7}" sibTransId="{CD38D00B-BE38-43D8-937B-6EB6F5E358D7}"/>
    <dgm:cxn modelId="{1F8D8C92-79B8-494E-AB33-4EEA53EF8504}" type="presOf" srcId="{8B36A3D1-212E-4DB5-9EA3-13F604957DA2}" destId="{9F682B51-A0D0-41F1-9FD7-32D5D4BBC39C}" srcOrd="0" destOrd="0" presId="urn:microsoft.com/office/officeart/2005/8/layout/hierarchy1"/>
    <dgm:cxn modelId="{C6AA4C67-2A3A-48A9-9274-EF7577A3F3C7}" type="presParOf" srcId="{449835BF-A4A1-4FFF-990E-56EE0A6DB71B}" destId="{B85CD4F5-AE82-4D82-9C1A-0E63D19BF728}" srcOrd="0" destOrd="0" presId="urn:microsoft.com/office/officeart/2005/8/layout/hierarchy1"/>
    <dgm:cxn modelId="{5AF8A1BD-03C6-4E14-BECF-55E8F758AF3C}" type="presParOf" srcId="{B85CD4F5-AE82-4D82-9C1A-0E63D19BF728}" destId="{43F5F658-F673-4A9E-A186-90AFCE30B27D}" srcOrd="0" destOrd="0" presId="urn:microsoft.com/office/officeart/2005/8/layout/hierarchy1"/>
    <dgm:cxn modelId="{5C1AE5A0-7C5F-4BCA-8F55-0C55392D19F4}" type="presParOf" srcId="{43F5F658-F673-4A9E-A186-90AFCE30B27D}" destId="{6ED3C7E7-03DF-4081-BAB8-A64034D4F0CD}" srcOrd="0" destOrd="0" presId="urn:microsoft.com/office/officeart/2005/8/layout/hierarchy1"/>
    <dgm:cxn modelId="{ACED37C8-C740-47E8-913F-D5E71C4B0C15}" type="presParOf" srcId="{43F5F658-F673-4A9E-A186-90AFCE30B27D}" destId="{9F682B51-A0D0-41F1-9FD7-32D5D4BBC39C}" srcOrd="1" destOrd="0" presId="urn:microsoft.com/office/officeart/2005/8/layout/hierarchy1"/>
    <dgm:cxn modelId="{1892D6DA-5B44-4DB7-81E7-1446B0F9D6DD}" type="presParOf" srcId="{B85CD4F5-AE82-4D82-9C1A-0E63D19BF728}" destId="{04BFD047-6402-4F01-B14C-9E9700E07701}" srcOrd="1" destOrd="0" presId="urn:microsoft.com/office/officeart/2005/8/layout/hierarchy1"/>
    <dgm:cxn modelId="{D69D58EB-AEAB-4FFC-B19D-D64282C19F0A}" type="presParOf" srcId="{449835BF-A4A1-4FFF-990E-56EE0A6DB71B}" destId="{2A2712C4-CA2D-4550-8C4A-6E18ACAD7CDD}" srcOrd="1" destOrd="0" presId="urn:microsoft.com/office/officeart/2005/8/layout/hierarchy1"/>
    <dgm:cxn modelId="{9BCD20BE-6E9C-408F-A7E6-1BBE5D19D1DF}" type="presParOf" srcId="{2A2712C4-CA2D-4550-8C4A-6E18ACAD7CDD}" destId="{7B46F3DA-66B5-4E4A-8CF4-7196F62DD41C}" srcOrd="0" destOrd="0" presId="urn:microsoft.com/office/officeart/2005/8/layout/hierarchy1"/>
    <dgm:cxn modelId="{A26C57B4-0B42-4903-9DC1-0C0D6E6DBED9}" type="presParOf" srcId="{7B46F3DA-66B5-4E4A-8CF4-7196F62DD41C}" destId="{02DF2719-C8F8-4E4A-8529-348DA84852D5}" srcOrd="0" destOrd="0" presId="urn:microsoft.com/office/officeart/2005/8/layout/hierarchy1"/>
    <dgm:cxn modelId="{9BE02712-A260-4A57-9C50-A667669A6BC0}" type="presParOf" srcId="{7B46F3DA-66B5-4E4A-8CF4-7196F62DD41C}" destId="{2BBAD1F6-5C25-4F86-BD7A-A84859F12860}" srcOrd="1" destOrd="0" presId="urn:microsoft.com/office/officeart/2005/8/layout/hierarchy1"/>
    <dgm:cxn modelId="{A0639916-150A-4820-A07F-7E87C7E58961}" type="presParOf" srcId="{2A2712C4-CA2D-4550-8C4A-6E18ACAD7CDD}" destId="{2806C904-F739-4272-AB84-268A94EFEBE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8B3C1-4B68-4C87-B3CF-EB1648E3BD1E}" type="doc">
      <dgm:prSet loTypeId="urn:microsoft.com/office/officeart/2005/8/layout/hierarchy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0989F36-95FF-42B9-A969-8B5B89124C5F}">
      <dgm:prSet/>
      <dgm:spPr/>
      <dgm:t>
        <a:bodyPr/>
        <a:lstStyle/>
        <a:p>
          <a:r>
            <a:rPr lang="ro-RO"/>
            <a:t>Oricărui graf îi putem asocia 3 matrici</a:t>
          </a:r>
          <a:r>
            <a:rPr lang="en-US"/>
            <a:t>: matricea de adi</a:t>
          </a:r>
          <a:r>
            <a:rPr lang="ro-RO"/>
            <a:t>acență (A), matricea gradului de conectivitate(D) și matricea Laplacian (D-A).</a:t>
          </a:r>
          <a:endParaRPr lang="en-US"/>
        </a:p>
      </dgm:t>
    </dgm:pt>
    <dgm:pt modelId="{EB913061-3EAB-4610-90E4-05D30023FA05}" type="parTrans" cxnId="{127F3D23-C5AA-4B70-AA92-8671EA78CC55}">
      <dgm:prSet/>
      <dgm:spPr/>
      <dgm:t>
        <a:bodyPr/>
        <a:lstStyle/>
        <a:p>
          <a:endParaRPr lang="en-US"/>
        </a:p>
      </dgm:t>
    </dgm:pt>
    <dgm:pt modelId="{C4831B47-DE4A-4CCE-818E-1BD9970285FF}" type="sibTrans" cxnId="{127F3D23-C5AA-4B70-AA92-8671EA78CC55}">
      <dgm:prSet/>
      <dgm:spPr/>
      <dgm:t>
        <a:bodyPr/>
        <a:lstStyle/>
        <a:p>
          <a:endParaRPr lang="en-US"/>
        </a:p>
      </dgm:t>
    </dgm:pt>
    <dgm:pt modelId="{98973CB4-789A-4300-941E-E5B199DF5F89}">
      <dgm:prSet/>
      <dgm:spPr/>
      <dgm:t>
        <a:bodyPr/>
        <a:lstStyle/>
        <a:p>
          <a:r>
            <a:rPr lang="ro-RO"/>
            <a:t>Matricea Laplacian are structură simetrică și este pozitiv semi-definită. Simetria acesteia reprezintă cheia optimizării algoritmilor folosiți.</a:t>
          </a:r>
          <a:endParaRPr lang="en-US"/>
        </a:p>
      </dgm:t>
    </dgm:pt>
    <dgm:pt modelId="{D225B264-2705-43EE-AC89-02B2D696E592}" type="parTrans" cxnId="{19C9839D-5974-49F6-B1FE-93A771DE84D7}">
      <dgm:prSet/>
      <dgm:spPr/>
      <dgm:t>
        <a:bodyPr/>
        <a:lstStyle/>
        <a:p>
          <a:endParaRPr lang="en-US"/>
        </a:p>
      </dgm:t>
    </dgm:pt>
    <dgm:pt modelId="{7101CBF5-8397-402B-B6C6-943AB82D399B}" type="sibTrans" cxnId="{19C9839D-5974-49F6-B1FE-93A771DE84D7}">
      <dgm:prSet/>
      <dgm:spPr/>
      <dgm:t>
        <a:bodyPr/>
        <a:lstStyle/>
        <a:p>
          <a:endParaRPr lang="en-US"/>
        </a:p>
      </dgm:t>
    </dgm:pt>
    <dgm:pt modelId="{81B8C9B9-FA96-429A-B861-BE5DAD6AACE2}" type="pres">
      <dgm:prSet presAssocID="{F7A8B3C1-4B68-4C87-B3CF-EB1648E3BD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4A6B1E-44A6-44F2-B7FC-CB4496DDE880}" type="pres">
      <dgm:prSet presAssocID="{A0989F36-95FF-42B9-A969-8B5B89124C5F}" presName="hierRoot1" presStyleCnt="0"/>
      <dgm:spPr/>
    </dgm:pt>
    <dgm:pt modelId="{1A27DAA3-B1DB-4EA4-8DEA-84182BF05742}" type="pres">
      <dgm:prSet presAssocID="{A0989F36-95FF-42B9-A969-8B5B89124C5F}" presName="composite" presStyleCnt="0"/>
      <dgm:spPr/>
    </dgm:pt>
    <dgm:pt modelId="{03F9324A-68AC-4DC0-AFDC-7A6C12FF45C2}" type="pres">
      <dgm:prSet presAssocID="{A0989F36-95FF-42B9-A969-8B5B89124C5F}" presName="background" presStyleLbl="node0" presStyleIdx="0" presStyleCnt="2"/>
      <dgm:spPr/>
    </dgm:pt>
    <dgm:pt modelId="{3D1F6CBF-1C91-4037-A028-7F8FEEBF79E5}" type="pres">
      <dgm:prSet presAssocID="{A0989F36-95FF-42B9-A969-8B5B89124C5F}" presName="text" presStyleLbl="fgAcc0" presStyleIdx="0" presStyleCnt="2">
        <dgm:presLayoutVars>
          <dgm:chPref val="3"/>
        </dgm:presLayoutVars>
      </dgm:prSet>
      <dgm:spPr/>
    </dgm:pt>
    <dgm:pt modelId="{66DFD4EE-C6F3-4C61-B934-2F609515E2DA}" type="pres">
      <dgm:prSet presAssocID="{A0989F36-95FF-42B9-A969-8B5B89124C5F}" presName="hierChild2" presStyleCnt="0"/>
      <dgm:spPr/>
    </dgm:pt>
    <dgm:pt modelId="{635F5C8C-E978-4D6D-B07F-6AA1D2709687}" type="pres">
      <dgm:prSet presAssocID="{98973CB4-789A-4300-941E-E5B199DF5F89}" presName="hierRoot1" presStyleCnt="0"/>
      <dgm:spPr/>
    </dgm:pt>
    <dgm:pt modelId="{D12046AC-EDA8-44B7-9D24-BDAC2051F1AE}" type="pres">
      <dgm:prSet presAssocID="{98973CB4-789A-4300-941E-E5B199DF5F89}" presName="composite" presStyleCnt="0"/>
      <dgm:spPr/>
    </dgm:pt>
    <dgm:pt modelId="{1CA0E599-6627-4E34-833F-1193BE64FB51}" type="pres">
      <dgm:prSet presAssocID="{98973CB4-789A-4300-941E-E5B199DF5F89}" presName="background" presStyleLbl="node0" presStyleIdx="1" presStyleCnt="2"/>
      <dgm:spPr/>
    </dgm:pt>
    <dgm:pt modelId="{2602BC92-184D-4865-84DD-33C38820A677}" type="pres">
      <dgm:prSet presAssocID="{98973CB4-789A-4300-941E-E5B199DF5F89}" presName="text" presStyleLbl="fgAcc0" presStyleIdx="1" presStyleCnt="2">
        <dgm:presLayoutVars>
          <dgm:chPref val="3"/>
        </dgm:presLayoutVars>
      </dgm:prSet>
      <dgm:spPr/>
    </dgm:pt>
    <dgm:pt modelId="{8BE495DD-7C94-4E4E-AFE1-F4F23078112E}" type="pres">
      <dgm:prSet presAssocID="{98973CB4-789A-4300-941E-E5B199DF5F89}" presName="hierChild2" presStyleCnt="0"/>
      <dgm:spPr/>
    </dgm:pt>
  </dgm:ptLst>
  <dgm:cxnLst>
    <dgm:cxn modelId="{127F3D23-C5AA-4B70-AA92-8671EA78CC55}" srcId="{F7A8B3C1-4B68-4C87-B3CF-EB1648E3BD1E}" destId="{A0989F36-95FF-42B9-A969-8B5B89124C5F}" srcOrd="0" destOrd="0" parTransId="{EB913061-3EAB-4610-90E4-05D30023FA05}" sibTransId="{C4831B47-DE4A-4CCE-818E-1BD9970285FF}"/>
    <dgm:cxn modelId="{CA1AB379-5CB5-498B-9832-60324BCB4709}" type="presOf" srcId="{F7A8B3C1-4B68-4C87-B3CF-EB1648E3BD1E}" destId="{81B8C9B9-FA96-429A-B861-BE5DAD6AACE2}" srcOrd="0" destOrd="0" presId="urn:microsoft.com/office/officeart/2005/8/layout/hierarchy1"/>
    <dgm:cxn modelId="{19C9839D-5974-49F6-B1FE-93A771DE84D7}" srcId="{F7A8B3C1-4B68-4C87-B3CF-EB1648E3BD1E}" destId="{98973CB4-789A-4300-941E-E5B199DF5F89}" srcOrd="1" destOrd="0" parTransId="{D225B264-2705-43EE-AC89-02B2D696E592}" sibTransId="{7101CBF5-8397-402B-B6C6-943AB82D399B}"/>
    <dgm:cxn modelId="{E59C96D1-92E8-496B-9FAA-B6C52551F415}" type="presOf" srcId="{98973CB4-789A-4300-941E-E5B199DF5F89}" destId="{2602BC92-184D-4865-84DD-33C38820A677}" srcOrd="0" destOrd="0" presId="urn:microsoft.com/office/officeart/2005/8/layout/hierarchy1"/>
    <dgm:cxn modelId="{2CE68AEB-1529-4DCE-AA9C-BB3475F26263}" type="presOf" srcId="{A0989F36-95FF-42B9-A969-8B5B89124C5F}" destId="{3D1F6CBF-1C91-4037-A028-7F8FEEBF79E5}" srcOrd="0" destOrd="0" presId="urn:microsoft.com/office/officeart/2005/8/layout/hierarchy1"/>
    <dgm:cxn modelId="{BFEC7F45-BAE1-4736-95DB-19E0D33BB97E}" type="presParOf" srcId="{81B8C9B9-FA96-429A-B861-BE5DAD6AACE2}" destId="{6A4A6B1E-44A6-44F2-B7FC-CB4496DDE880}" srcOrd="0" destOrd="0" presId="urn:microsoft.com/office/officeart/2005/8/layout/hierarchy1"/>
    <dgm:cxn modelId="{8058D9D2-50F1-47E6-B54E-123D83CD0F3F}" type="presParOf" srcId="{6A4A6B1E-44A6-44F2-B7FC-CB4496DDE880}" destId="{1A27DAA3-B1DB-4EA4-8DEA-84182BF05742}" srcOrd="0" destOrd="0" presId="urn:microsoft.com/office/officeart/2005/8/layout/hierarchy1"/>
    <dgm:cxn modelId="{2AC58BCA-A11E-406F-B983-C88D3584040C}" type="presParOf" srcId="{1A27DAA3-B1DB-4EA4-8DEA-84182BF05742}" destId="{03F9324A-68AC-4DC0-AFDC-7A6C12FF45C2}" srcOrd="0" destOrd="0" presId="urn:microsoft.com/office/officeart/2005/8/layout/hierarchy1"/>
    <dgm:cxn modelId="{E1A0AEA6-E94F-4B0E-BA46-332F12CE3D54}" type="presParOf" srcId="{1A27DAA3-B1DB-4EA4-8DEA-84182BF05742}" destId="{3D1F6CBF-1C91-4037-A028-7F8FEEBF79E5}" srcOrd="1" destOrd="0" presId="urn:microsoft.com/office/officeart/2005/8/layout/hierarchy1"/>
    <dgm:cxn modelId="{6FB631EF-6E62-4223-B8E7-2026586621A1}" type="presParOf" srcId="{6A4A6B1E-44A6-44F2-B7FC-CB4496DDE880}" destId="{66DFD4EE-C6F3-4C61-B934-2F609515E2DA}" srcOrd="1" destOrd="0" presId="urn:microsoft.com/office/officeart/2005/8/layout/hierarchy1"/>
    <dgm:cxn modelId="{44E2B267-DB5E-4179-92BE-312F3D2F86DE}" type="presParOf" srcId="{81B8C9B9-FA96-429A-B861-BE5DAD6AACE2}" destId="{635F5C8C-E978-4D6D-B07F-6AA1D2709687}" srcOrd="1" destOrd="0" presId="urn:microsoft.com/office/officeart/2005/8/layout/hierarchy1"/>
    <dgm:cxn modelId="{2E3CC822-04C2-47DA-9833-0EB55B73E321}" type="presParOf" srcId="{635F5C8C-E978-4D6D-B07F-6AA1D2709687}" destId="{D12046AC-EDA8-44B7-9D24-BDAC2051F1AE}" srcOrd="0" destOrd="0" presId="urn:microsoft.com/office/officeart/2005/8/layout/hierarchy1"/>
    <dgm:cxn modelId="{A3719F0D-CB51-4123-AC64-7E8384AC7CD8}" type="presParOf" srcId="{D12046AC-EDA8-44B7-9D24-BDAC2051F1AE}" destId="{1CA0E599-6627-4E34-833F-1193BE64FB51}" srcOrd="0" destOrd="0" presId="urn:microsoft.com/office/officeart/2005/8/layout/hierarchy1"/>
    <dgm:cxn modelId="{4A27163F-972D-4AB8-894B-5E62CF99217B}" type="presParOf" srcId="{D12046AC-EDA8-44B7-9D24-BDAC2051F1AE}" destId="{2602BC92-184D-4865-84DD-33C38820A677}" srcOrd="1" destOrd="0" presId="urn:microsoft.com/office/officeart/2005/8/layout/hierarchy1"/>
    <dgm:cxn modelId="{8F5F68B4-C678-4149-BF3E-20B02E1DF3EC}" type="presParOf" srcId="{635F5C8C-E978-4D6D-B07F-6AA1D2709687}" destId="{8BE495DD-7C94-4E4E-AFE1-F4F23078112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3C7E7-03DF-4081-BAB8-A64034D4F0CD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82B51-A0D0-41F1-9FD7-32D5D4BBC39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Identificarea automată a clusterelor dintr-un graf aleatoriu, folosindu-ne de rezultate din curs.</a:t>
          </a:r>
          <a:endParaRPr lang="en-US" sz="2600" kern="1200"/>
        </a:p>
      </dsp:txBody>
      <dsp:txXfrm>
        <a:off x="608661" y="692298"/>
        <a:ext cx="4508047" cy="2799040"/>
      </dsp:txXfrm>
    </dsp:sp>
    <dsp:sp modelId="{02DF2719-C8F8-4E4A-8529-348DA84852D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AD1F6-5C25-4F86-BD7A-A84859F12860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Principalul nostru atuu l-a reprezentat spectrul matricei Laplacian care descrie graful, iar de acolo am putut să construim funcțiile care să ne ducă la clusterele finale.</a:t>
          </a:r>
          <a:endParaRPr lang="en-US" sz="26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324A-68AC-4DC0-AFDC-7A6C12FF45C2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F6CBF-1C91-4037-A028-7F8FEEBF79E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Oricărui graf îi putem asocia 3 matrici</a:t>
          </a:r>
          <a:r>
            <a:rPr lang="en-US" sz="2800" kern="1200"/>
            <a:t>: matricea de adi</a:t>
          </a:r>
          <a:r>
            <a:rPr lang="ro-RO" sz="2800" kern="1200"/>
            <a:t>acență (A), matricea gradului de conectivitate(D) și matricea Laplacian (D-A).</a:t>
          </a:r>
          <a:endParaRPr lang="en-US" sz="2800" kern="1200"/>
        </a:p>
      </dsp:txBody>
      <dsp:txXfrm>
        <a:off x="608661" y="692298"/>
        <a:ext cx="4508047" cy="2799040"/>
      </dsp:txXfrm>
    </dsp:sp>
    <dsp:sp modelId="{1CA0E599-6627-4E34-833F-1193BE64FB51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2BC92-184D-4865-84DD-33C38820A67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Matricea Laplacian are structură simetrică și este pozitiv semi-definită. Simetria acesteia reprezintă cheia optimizării algoritmilor folosiți.</a:t>
          </a:r>
          <a:endParaRPr lang="en-US" sz="2800" kern="1200"/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1680-3932-3474-8164-F63EE6C1A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A199B-C943-0BB6-2F28-2F690CE94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11CD1-7163-F522-0E68-9661CA6D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BBB1-25C8-18FC-A956-080C5E21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57540-4BA9-2BB9-9FFD-CF2EDCA4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1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7F4B-4D5C-E699-8AE5-DA190E42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29774-0484-700C-87DC-099DE0F49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38CB2-29B8-01CA-06A0-002FC037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9C8D-322D-5FC7-9F8B-7B207953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B00DF-2D67-31A8-83B3-A79864A9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9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CD64-62B8-AE83-20E4-999D1CC0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0CA7C-8D42-F194-7453-A1AD70817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FDE63-6893-7D0B-BB66-F525DDF1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5639-2E4B-C3E2-FE38-A5A08ACA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FC6A7-5650-B646-2684-AF84AF1A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E2E7-6C48-3E77-733E-8676084B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2090-E72B-12DD-287E-8793DA8C9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9A425-9482-3E58-BA0E-987568F7E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37E1-B0A6-5C19-9D74-7401E91C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6F251-3AA4-3E7E-6D9E-5D85315D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7294D-2698-76CD-3455-F077A706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D84D-8F0F-B95B-5C73-F3666F9C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AF047-0A56-4C6A-AB63-05E858506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6C3E3-169D-3176-2491-A3778E891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D7DFD-D764-0F18-5ECC-F617D2245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8EA4B-5143-349B-5231-1C9C0B98A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C18A5-C3EC-5F91-BBA8-5F90EE0E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0F557-6A52-9844-0161-6897BD78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020EA-8244-15C9-B46E-CD3B64C9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1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778B-37B8-8AAC-CB31-A5A6093A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5751D-5DA5-3FB6-3DD6-890A8674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4659C-3B84-5042-73EA-F5F4AD8C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A302C-FABD-4DB5-59AD-0D346FF1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9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E764D0-396D-A21D-3A7C-C4CA72E5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1D9E7-259A-3864-8AEA-9C6BFC7D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B4036-151A-6AD3-1D19-EFD63D2B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3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3DE2-BF40-1DAD-F79A-9CE69004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0C17F-525E-3EBF-B46F-7CE94E61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CCA6E-93D3-D677-5EC2-3FA582A5F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C55FD-01D3-14C3-1858-7D793AEF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299F9-8700-7FE6-412A-EA73567F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D114A-7007-4E1C-8CE3-50A777BD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1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A74F-2738-8177-4F28-3430F032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6098F-4985-BD8D-4E93-C9150D5E9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CAAC4-63D6-5C35-9623-AB839E5A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3CA23-1EAD-9663-E3EC-C0BA090E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A62C4-149F-D68B-1628-C3AFBD11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C9016-0848-EB32-C4EA-563BBCE6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9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C603-86AA-1CC1-6179-652D9D00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163FA-4C46-09B2-C1DE-EC4C9C417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4D07-5F2C-E9A3-304E-4E505AFE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720C-1E50-86A7-AEB0-FE680BBA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D9A0-5E4D-3965-CAF1-2E2A73CD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FAE19-EE03-7E17-B1E1-48EC36287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60DF2-BB54-16F8-C14A-D232D678A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0EB7C-C796-E90D-FDE7-7F5163E8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233EB-4E02-68B8-F5BD-24B4075B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A83D-B12A-D0E0-4602-C551A1FF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3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07F78-DFE3-6B5E-EB76-2767DF1D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77027-BC6A-10CB-7A6C-F59BE0715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3205-BD2E-6FE3-96D1-B9E7F2D0E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E8D19-9C13-4643-9802-35D50F35D30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79F5-5ECF-7B33-CDC7-70AC897CD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995D5-208E-F61C-E5B0-B24A1280C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3ED47-DDA0-43CB-9D56-9613F1C8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9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cluster.SpectralClustering.html" TargetMode="External"/><Relationship Id="rId2" Type="http://schemas.openxmlformats.org/officeDocument/2006/relationships/hyperlink" Target="https://www.geeksforgeeks.org/machine-learning/spectral-clustering-a-comprehensive-guide-for-beginne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98FC8-16C8-4295-0DE2-21F33C3CC5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6" b="1118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AEF26-48F6-2D9F-A480-539142BB8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Graph Spectral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F4C30-6D92-99F9-A731-6E2CCE550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-Colocviu “Metode Numerice”-</a:t>
            </a:r>
          </a:p>
          <a:p>
            <a:r>
              <a:rPr lang="en-US">
                <a:solidFill>
                  <a:srgbClr val="FFFFFF"/>
                </a:solidFill>
              </a:rPr>
              <a:t>Nurci Stelian-Costin 323AC</a:t>
            </a:r>
          </a:p>
        </p:txBody>
      </p:sp>
    </p:spTree>
    <p:extLst>
      <p:ext uri="{BB962C8B-B14F-4D97-AF65-F5344CB8AC3E}">
        <p14:creationId xmlns:p14="http://schemas.microsoft.com/office/powerpoint/2010/main" val="3213322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A669F-2F7A-FBDF-E6E7-52BEB2A8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Scopul</a:t>
            </a:r>
            <a:r>
              <a:rPr lang="ro-RO" sz="4000">
                <a:solidFill>
                  <a:srgbClr val="FFFFFF"/>
                </a:solidFill>
              </a:rPr>
              <a:t> Aplicației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132B9E-7674-7A11-BC4E-18C909AA32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7145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732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83CCF-7597-5B5C-A85E-91FBABB2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Modelarea Matematică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0D186F-6A9F-A57E-AB7C-FAB976D34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22155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17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AF26-E042-75EF-96AD-A6D0ABED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1 - Tridiagonalizarea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8C68-FBBC-611C-8F48-429C8F6D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Algoritmul primește ca input o matrice oarecare și o transformă într-o matrice tridiagonală cu același spectru.</a:t>
            </a:r>
          </a:p>
          <a:p>
            <a:r>
              <a:rPr lang="ro-RO" dirty="0"/>
              <a:t>Astfel, anulăm elementele de sub subdiagonală folosindu-ne de Householder. Datorită simetriei matricei, atunci când anulăm elemente din coloana k, noi anulăm simetricul elementului de pe linia k. Facem optim calculul</a:t>
            </a:r>
            <a:r>
              <a:rPr lang="en-US" dirty="0"/>
              <a:t> : A = H*A*H</a:t>
            </a:r>
            <a:r>
              <a:rPr lang="ro-RO" dirty="0"/>
              <a:t>.</a:t>
            </a:r>
          </a:p>
          <a:p>
            <a:r>
              <a:rPr lang="ro-RO" dirty="0"/>
              <a:t>În final, salvăm noua noastră matrice folosindu-ne doar de 2 vectori f și g, unde f reprezintă diagonala principală, iar g sub-diagonala.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1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5F0F-EC43-DF0F-D77A-C6870139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2 - QR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A58D5-8142-EB48-09DD-C1A87AF82C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o-RO" dirty="0"/>
                  <a:t>Am folosit QR pentru matrici simetrice, cu deplasare Wilkinson</a:t>
                </a:r>
                <a:r>
                  <a:rPr lang="en-US" dirty="0"/>
                  <a:t>, cu </a:t>
                </a:r>
                <a:r>
                  <a:rPr lang="en-US" dirty="0" err="1"/>
                  <a:t>scopul</a:t>
                </a:r>
                <a:r>
                  <a:rPr lang="en-US" dirty="0"/>
                  <a:t> de </a:t>
                </a:r>
                <a:r>
                  <a:rPr lang="en-US" dirty="0" err="1"/>
                  <a:t>ajunge</a:t>
                </a:r>
                <a:r>
                  <a:rPr lang="en-US" dirty="0"/>
                  <a:t> la o </a:t>
                </a:r>
                <a:r>
                  <a:rPr lang="en-US" dirty="0" err="1"/>
                  <a:t>matrice</a:t>
                </a:r>
                <a:r>
                  <a:rPr lang="en-US" dirty="0"/>
                  <a:t> diagonal</a:t>
                </a:r>
                <a:r>
                  <a:rPr lang="ro-RO" dirty="0"/>
                  <a:t>ă de unde putem scoate foarte ușor valorile proprii.</a:t>
                </a:r>
              </a:p>
              <a:p>
                <a:r>
                  <a:rPr lang="ro-RO" dirty="0"/>
                  <a:t>Construim câte o rotație Givens pentru fiecare coloană, anulând elementele de sub diagonală.</a:t>
                </a:r>
              </a:p>
              <a:p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algoritmul</a:t>
                </a:r>
                <a:r>
                  <a:rPr lang="en-US" dirty="0"/>
                  <a:t> QR, </a:t>
                </a:r>
                <a:r>
                  <a:rPr lang="en-US" dirty="0" err="1"/>
                  <a:t>după</a:t>
                </a:r>
                <a:r>
                  <a:rPr lang="en-US" dirty="0"/>
                  <a:t> </a:t>
                </a:r>
                <a:r>
                  <a:rPr lang="en-US" dirty="0" err="1"/>
                  <a:t>factorizarea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𝑄𝑅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matricea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actualizată</a:t>
                </a:r>
                <a:r>
                  <a:rPr lang="en-US" dirty="0"/>
                  <a:t> ca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obținând</a:t>
                </a:r>
                <a:r>
                  <a:rPr lang="en-US" dirty="0"/>
                  <a:t> o </a:t>
                </a:r>
                <a:r>
                  <a:rPr lang="en-US" dirty="0" err="1"/>
                  <a:t>matrice</a:t>
                </a:r>
                <a:r>
                  <a:rPr lang="en-US" dirty="0"/>
                  <a:t> </a:t>
                </a:r>
                <a:r>
                  <a:rPr lang="en-US" dirty="0" err="1"/>
                  <a:t>similară</a:t>
                </a:r>
                <a:r>
                  <a:rPr lang="en-US" dirty="0"/>
                  <a:t> cu </a:t>
                </a:r>
                <a:r>
                  <a:rPr lang="en-US" dirty="0" err="1"/>
                  <a:t>cea</a:t>
                </a:r>
                <a:r>
                  <a:rPr lang="en-US" dirty="0"/>
                  <a:t> </a:t>
                </a:r>
                <a:r>
                  <a:rPr lang="en-US" dirty="0" err="1"/>
                  <a:t>inițială</a:t>
                </a:r>
                <a:r>
                  <a:rPr lang="en-US" dirty="0"/>
                  <a:t>.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matrici</a:t>
                </a:r>
                <a:r>
                  <a:rPr lang="en-US" dirty="0"/>
                  <a:t> </a:t>
                </a:r>
                <a:r>
                  <a:rPr lang="en-US" dirty="0" err="1"/>
                  <a:t>simetrice</a:t>
                </a:r>
                <a:r>
                  <a:rPr lang="en-US" dirty="0"/>
                  <a:t>, </a:t>
                </a:r>
                <a:r>
                  <a:rPr lang="en-US" dirty="0" err="1"/>
                  <a:t>iterațiile</a:t>
                </a:r>
                <a:r>
                  <a:rPr lang="en-US" dirty="0"/>
                  <a:t> QR </a:t>
                </a:r>
                <a:r>
                  <a:rPr lang="en-US" dirty="0" err="1"/>
                  <a:t>converg</a:t>
                </a:r>
                <a:r>
                  <a:rPr lang="en-US" dirty="0"/>
                  <a:t> </a:t>
                </a:r>
                <a:r>
                  <a:rPr lang="en-US" dirty="0" err="1"/>
                  <a:t>către</a:t>
                </a:r>
                <a:r>
                  <a:rPr lang="en-US" dirty="0"/>
                  <a:t> o </a:t>
                </a:r>
                <a:r>
                  <a:rPr lang="en-US" dirty="0" err="1"/>
                  <a:t>matrice</a:t>
                </a:r>
                <a:r>
                  <a:rPr lang="en-US" dirty="0"/>
                  <a:t> </a:t>
                </a:r>
                <a:r>
                  <a:rPr lang="en-US" dirty="0" err="1"/>
                  <a:t>diagonală</a:t>
                </a:r>
                <a:r>
                  <a:rPr lang="en-US" dirty="0"/>
                  <a:t>, care coincide cu forma Schur </a:t>
                </a:r>
                <a:r>
                  <a:rPr lang="en-US" dirty="0" err="1"/>
                  <a:t>reală</a:t>
                </a:r>
                <a:r>
                  <a:rPr lang="en-US" dirty="0"/>
                  <a:t>.</a:t>
                </a:r>
                <a:endParaRPr lang="ro-RO" dirty="0"/>
              </a:p>
              <a:p>
                <a:r>
                  <a:rPr lang="ro-RO" dirty="0"/>
                  <a:t>Apoi aplicăm QR iterativ, până când ajungem la elemente îndeajuns de mici.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A58D5-8142-EB48-09DD-C1A87AF82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79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998F-3ACC-9652-74B7-B71F8C80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Strategia de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E605-658B-02E6-C20E-38C43A48A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Luăm valorile proprii de pe diagonala matricei, iar apoi aflăm vectorul propriu corespunzător fiecărei valori folosindu-ne de np.linalg.solve.</a:t>
            </a:r>
          </a:p>
          <a:p>
            <a:r>
              <a:rPr lang="ro-RO" dirty="0"/>
              <a:t>Pentru a ne testa algoritmul am ales să împărțim graful atât în două clustere, dar și în trei. Pentru două clustere am ales o metodă simplă de împărțire</a:t>
            </a:r>
            <a:r>
              <a:rPr lang="en-US" dirty="0"/>
              <a:t>: </a:t>
            </a:r>
            <a:r>
              <a:rPr lang="ro-RO" dirty="0"/>
              <a:t>în vectorul propriu v există atât elemente pozitive, cât și negative, cele pozitive trec într-un cluster, iar cele negative în celălalt.</a:t>
            </a:r>
          </a:p>
          <a:p>
            <a:r>
              <a:rPr lang="ro-RO"/>
              <a:t>Pentru trei clustere, am făcut un sisteme de axe bazat tot pe semnul elementelor celor 2 vectori proprii.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7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F80EC1-1261-A352-1923-8F994D370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2567"/>
            <a:ext cx="10905066" cy="45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8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D2AFF-2BF4-815B-5D66-00A321C5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9" b="164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0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7DDB-D63B-1D5D-2528-C21E090B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73D8-C038-E5BF-2060-378F79A33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Bogdan Dumitrescu, Corneliu </a:t>
            </a:r>
            <a:r>
              <a:rPr lang="en-US" dirty="0" err="1"/>
              <a:t>Popeea</a:t>
            </a:r>
            <a:r>
              <a:rPr lang="en-US" dirty="0"/>
              <a:t>, Boris </a:t>
            </a:r>
            <a:r>
              <a:rPr lang="en-US" dirty="0" err="1"/>
              <a:t>Jora:</a:t>
            </a:r>
            <a:r>
              <a:rPr lang="en-US" i="1" dirty="0" err="1"/>
              <a:t>"Metode</a:t>
            </a:r>
            <a:r>
              <a:rPr lang="en-US" i="1" dirty="0"/>
              <a:t> de </a:t>
            </a:r>
            <a:r>
              <a:rPr lang="en-US" i="1" dirty="0" err="1"/>
              <a:t>calcul</a:t>
            </a:r>
            <a:r>
              <a:rPr lang="en-US" i="1" dirty="0"/>
              <a:t> numeric </a:t>
            </a:r>
            <a:r>
              <a:rPr lang="en-US" i="1" dirty="0" err="1"/>
              <a:t>matriceal</a:t>
            </a:r>
            <a:r>
              <a:rPr lang="en-US" i="1" dirty="0"/>
              <a:t>. </a:t>
            </a:r>
            <a:r>
              <a:rPr lang="en-US" i="1" dirty="0" err="1"/>
              <a:t>Algoritmi</a:t>
            </a:r>
            <a:r>
              <a:rPr lang="en-US" i="1" dirty="0"/>
              <a:t> </a:t>
            </a:r>
            <a:r>
              <a:rPr lang="en-US" i="1" dirty="0" err="1"/>
              <a:t>fundamentali</a:t>
            </a:r>
            <a:r>
              <a:rPr lang="en-US" i="1" dirty="0"/>
              <a:t>.“</a:t>
            </a:r>
          </a:p>
          <a:p>
            <a:r>
              <a:rPr lang="en-US" dirty="0">
                <a:hlinkClick r:id="rId2"/>
              </a:rPr>
              <a:t>https://www.geeksforgeeks.org/machine-learning/spectral-clustering-a-comprehensive-guide-for-beginners/</a:t>
            </a:r>
            <a:endParaRPr lang="en-US" dirty="0"/>
          </a:p>
          <a:p>
            <a:r>
              <a:rPr lang="en-US" dirty="0">
                <a:hlinkClick r:id="rId3"/>
              </a:rPr>
              <a:t>https://scikit-learn.org/stable/modules/generated/sklearn.cluster.SpectralClustering.html</a:t>
            </a:r>
            <a:endParaRPr lang="en-US" dirty="0"/>
          </a:p>
          <a:p>
            <a:r>
              <a:rPr lang="en-US" dirty="0"/>
              <a:t>http://snap.stanford.edu/class/cs224w-readings/ng01spectralcluster.pdf</a:t>
            </a:r>
          </a:p>
        </p:txBody>
      </p:sp>
    </p:spTree>
    <p:extLst>
      <p:ext uri="{BB962C8B-B14F-4D97-AF65-F5344CB8AC3E}">
        <p14:creationId xmlns:p14="http://schemas.microsoft.com/office/powerpoint/2010/main" val="235782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472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Graph Spectral Clustering</vt:lpstr>
      <vt:lpstr>Scopul Aplicației</vt:lpstr>
      <vt:lpstr>Modelarea Matematică</vt:lpstr>
      <vt:lpstr>Algoritmul 1 - Tridiagonalizarea</vt:lpstr>
      <vt:lpstr>Algoritmul 2 - QR</vt:lpstr>
      <vt:lpstr>Strategia de Clustering</vt:lpstr>
      <vt:lpstr>PowerPoint Presentation</vt:lpstr>
      <vt:lpstr>PowerPoint Presentation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Stelian-Costin NURCI (149579)</dc:creator>
  <cp:lastModifiedBy>Stelian-Costin NURCI (149579)</cp:lastModifiedBy>
  <cp:revision>2</cp:revision>
  <dcterms:created xsi:type="dcterms:W3CDTF">2026-01-14T20:35:28Z</dcterms:created>
  <dcterms:modified xsi:type="dcterms:W3CDTF">2026-01-14T21:39:36Z</dcterms:modified>
</cp:coreProperties>
</file>